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" userDrawn="1">
          <p15:clr>
            <a:srgbClr val="A4A3A4"/>
          </p15:clr>
        </p15:guide>
        <p15:guide id="2" pos="28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  <a:srgbClr val="FCAD6B"/>
    <a:srgbClr val="FBE4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7"/>
    <p:restoredTop sz="94638"/>
  </p:normalViewPr>
  <p:slideViewPr>
    <p:cSldViewPr showGuides="1">
      <p:cViewPr varScale="1">
        <p:scale>
          <a:sx n="173" d="100"/>
          <a:sy n="173" d="100"/>
        </p:scale>
        <p:origin x="208" y="560"/>
      </p:cViewPr>
      <p:guideLst>
        <p:guide orient="horz" pos="1134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24942" y="589241"/>
            <a:ext cx="6749654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1891070"/>
            <a:ext cx="6749654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819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8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897613"/>
            <a:ext cx="7762102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2409468"/>
            <a:ext cx="7762102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7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958453"/>
            <a:ext cx="3824804" cy="22844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1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191691"/>
            <a:ext cx="7762102" cy="695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882610"/>
            <a:ext cx="380722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1315164"/>
            <a:ext cx="380722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6" y="882610"/>
            <a:ext cx="382597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6" y="1315164"/>
            <a:ext cx="3825976" cy="193440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51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05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7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518398"/>
            <a:ext cx="4556016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3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240030"/>
            <a:ext cx="2902585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518398"/>
            <a:ext cx="4556016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1080135"/>
            <a:ext cx="2902585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538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38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191691"/>
            <a:ext cx="1940525" cy="30512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8" y="191691"/>
            <a:ext cx="5709082" cy="30512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8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191691"/>
            <a:ext cx="7762102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958453"/>
            <a:ext cx="7762102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8BE157-C9BD-DB4B-B849-501D8C18A188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3337084"/>
            <a:ext cx="303734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3337084"/>
            <a:ext cx="2024896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C5E3B-432B-7F47-B97C-9201D2B199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83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94">
            <a:extLst>
              <a:ext uri="{FF2B5EF4-FFF2-40B4-BE49-F238E27FC236}">
                <a16:creationId xmlns:a16="http://schemas.microsoft.com/office/drawing/2014/main" id="{D3DDCEF9-ADB0-E010-1243-4989C88AE3D3}"/>
              </a:ext>
            </a:extLst>
          </p:cNvPr>
          <p:cNvGrpSpPr/>
          <p:nvPr/>
        </p:nvGrpSpPr>
        <p:grpSpPr>
          <a:xfrm>
            <a:off x="579586" y="-4824511"/>
            <a:ext cx="7808615" cy="7808615"/>
            <a:chOff x="558079" y="-958223"/>
            <a:chExt cx="3154963" cy="3154963"/>
          </a:xfrm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A7B6B381-23FC-87A9-3563-3297AE71B0DE}"/>
                </a:ext>
              </a:extLst>
            </p:cNvPr>
            <p:cNvSpPr/>
            <p:nvPr/>
          </p:nvSpPr>
          <p:spPr>
            <a:xfrm>
              <a:off x="695400" y="1268760"/>
              <a:ext cx="720080" cy="720080"/>
            </a:xfrm>
            <a:prstGeom prst="ellipse">
              <a:avLst/>
            </a:prstGeom>
            <a:solidFill>
              <a:srgbClr val="FBE4C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50" dirty="0">
                  <a:solidFill>
                    <a:schemeClr val="tx1"/>
                  </a:solidFill>
                  <a:latin typeface="Helvetica" pitchFamily="2" charset="0"/>
                </a:rPr>
                <a:t>Absence of distinctions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F87568EC-E6CE-DC71-7C9F-7D4AB7128591}"/>
                </a:ext>
              </a:extLst>
            </p:cNvPr>
            <p:cNvSpPr/>
            <p:nvPr/>
          </p:nvSpPr>
          <p:spPr>
            <a:xfrm>
              <a:off x="1775520" y="1268760"/>
              <a:ext cx="720080" cy="720080"/>
            </a:xfrm>
            <a:prstGeom prst="ellipse">
              <a:avLst/>
            </a:prstGeom>
            <a:solidFill>
              <a:srgbClr val="FCAD6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50" dirty="0">
                  <a:solidFill>
                    <a:schemeClr val="tx1"/>
                  </a:solidFill>
                  <a:latin typeface="Helvetica" pitchFamily="2" charset="0"/>
                </a:rPr>
                <a:t>Wealth distinctions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4F8BA16-EB37-68DC-3EF7-A46FC5369EBE}"/>
                </a:ext>
              </a:extLst>
            </p:cNvPr>
            <p:cNvSpPr/>
            <p:nvPr/>
          </p:nvSpPr>
          <p:spPr>
            <a:xfrm>
              <a:off x="2855640" y="1268760"/>
              <a:ext cx="720080" cy="720080"/>
            </a:xfrm>
            <a:prstGeom prst="ellipse">
              <a:avLst/>
            </a:prstGeom>
            <a:solidFill>
              <a:srgbClr val="E6550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6350" algn="ctr">
                <a:tabLst>
                  <a:tab pos="1063625" algn="l"/>
                </a:tabLst>
              </a:pPr>
              <a:r>
                <a:rPr lang="en-US" sz="1500" dirty="0">
                  <a:solidFill>
                    <a:schemeClr val="tx1"/>
                  </a:solidFill>
                  <a:latin typeface="Helvetica" pitchFamily="2" charset="0"/>
                </a:rPr>
                <a:t>Stratification</a:t>
              </a:r>
            </a:p>
          </p:txBody>
        </p: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F1B177CA-C84B-D844-2C9B-6458B5B74E51}"/>
                </a:ext>
              </a:extLst>
            </p:cNvPr>
            <p:cNvCxnSpPr>
              <a:cxnSpLocks/>
            </p:cNvCxnSpPr>
            <p:nvPr/>
          </p:nvCxnSpPr>
          <p:spPr>
            <a:xfrm>
              <a:off x="1432100" y="1484784"/>
              <a:ext cx="343420" cy="0"/>
            </a:xfrm>
            <a:prstGeom prst="straightConnector1">
              <a:avLst/>
            </a:prstGeom>
            <a:ln w="20574">
              <a:headEnd type="none" w="med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FB2F4D41-5C7D-AE6B-4777-F71130F7654A}"/>
                </a:ext>
              </a:extLst>
            </p:cNvPr>
            <p:cNvCxnSpPr>
              <a:cxnSpLocks/>
            </p:cNvCxnSpPr>
            <p:nvPr/>
          </p:nvCxnSpPr>
          <p:spPr>
            <a:xfrm>
              <a:off x="2512220" y="1484784"/>
              <a:ext cx="343420" cy="0"/>
            </a:xfrm>
            <a:prstGeom prst="straightConnector1">
              <a:avLst/>
            </a:prstGeom>
            <a:ln w="77851">
              <a:headEnd type="none" w="med" len="med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627F4227-D43C-7676-A6FD-B76CAE6395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5480" y="1772816"/>
              <a:ext cx="343420" cy="0"/>
            </a:xfrm>
            <a:prstGeom prst="straightConnector1">
              <a:avLst/>
            </a:prstGeom>
            <a:ln w="21717">
              <a:headEnd type="none" w="med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9A450ED-0B49-F9A9-54C3-43520DB164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95600" y="1772816"/>
              <a:ext cx="343420" cy="0"/>
            </a:xfrm>
            <a:prstGeom prst="straightConnector1">
              <a:avLst/>
            </a:prstGeom>
            <a:ln w="27940">
              <a:headEnd type="none" w="med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Arc 103">
              <a:extLst>
                <a:ext uri="{FF2B5EF4-FFF2-40B4-BE49-F238E27FC236}">
                  <a16:creationId xmlns:a16="http://schemas.microsoft.com/office/drawing/2014/main" id="{FEEEF374-DC9A-BE26-E059-75D4438D489A}"/>
                </a:ext>
              </a:extLst>
            </p:cNvPr>
            <p:cNvSpPr/>
            <p:nvPr/>
          </p:nvSpPr>
          <p:spPr>
            <a:xfrm rot="18928753" flipH="1" flipV="1">
              <a:off x="558079" y="-958223"/>
              <a:ext cx="3154963" cy="3154963"/>
            </a:xfrm>
            <a:prstGeom prst="arc">
              <a:avLst>
                <a:gd name="adj1" fmla="val 17041549"/>
                <a:gd name="adj2" fmla="val 20776843"/>
              </a:avLst>
            </a:prstGeom>
            <a:ln w="24765">
              <a:headEnd type="none" w="med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01553A-8401-FDD8-F49A-918EE602B00E}"/>
              </a:ext>
            </a:extLst>
          </p:cNvPr>
          <p:cNvSpPr txBox="1"/>
          <p:nvPr/>
        </p:nvSpPr>
        <p:spPr>
          <a:xfrm>
            <a:off x="2613807" y="905932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0.16 [0.12 0.27]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464254-D22D-4E8E-8D19-2AD9E5F86704}"/>
              </a:ext>
            </a:extLst>
          </p:cNvPr>
          <p:cNvSpPr txBox="1"/>
          <p:nvPr/>
        </p:nvSpPr>
        <p:spPr>
          <a:xfrm>
            <a:off x="5283090" y="905932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0.61 [0.37 1.22]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947EC-6B91-CDA3-32D2-94FF5FB8779D}"/>
              </a:ext>
            </a:extLst>
          </p:cNvPr>
          <p:cNvSpPr txBox="1"/>
          <p:nvPr/>
        </p:nvSpPr>
        <p:spPr>
          <a:xfrm>
            <a:off x="2550566" y="1980098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0.17 [0.01 0.57]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98713-9B85-97D8-6924-3ED41D372E8B}"/>
              </a:ext>
            </a:extLst>
          </p:cNvPr>
          <p:cNvSpPr txBox="1"/>
          <p:nvPr/>
        </p:nvSpPr>
        <p:spPr>
          <a:xfrm>
            <a:off x="5219849" y="1980098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0.22 [0.11 0.51]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543C-EDAA-4680-E2B4-E51A03091717}"/>
              </a:ext>
            </a:extLst>
          </p:cNvPr>
          <p:cNvSpPr txBox="1"/>
          <p:nvPr/>
        </p:nvSpPr>
        <p:spPr>
          <a:xfrm>
            <a:off x="3914938" y="2690743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0.20 [0.10 0.29]</a:t>
            </a:r>
          </a:p>
        </p:txBody>
      </p:sp>
    </p:spTree>
    <p:extLst>
      <p:ext uri="{BB962C8B-B14F-4D97-AF65-F5344CB8AC3E}">
        <p14:creationId xmlns:p14="http://schemas.microsoft.com/office/powerpoint/2010/main" val="307360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31</Words>
  <Application>Microsoft Macintosh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2</cp:revision>
  <dcterms:created xsi:type="dcterms:W3CDTF">2026-06-02T08:57:20Z</dcterms:created>
  <dcterms:modified xsi:type="dcterms:W3CDTF">2026-06-02T10:46:30Z</dcterms:modified>
</cp:coreProperties>
</file>